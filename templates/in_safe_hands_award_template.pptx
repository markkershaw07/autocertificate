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10693400" cy="7556500"/>
  <p:notesSz cx="6858000" cy="9144000"/>
  <p:embeddedFontLst>
    <p:embeddedFont>
      <p:font typeface="Glacial Indifference Italics" panose="020B0604020202020204" charset="0"/>
      <p:regular r:id="rId6"/>
    </p:embeddedFont>
    <p:embeddedFont>
      <p:font typeface="Montserrat" pitchFamily="2" charset="0"/>
      <p:regular r:id="rId7"/>
      <p:bold r:id="rId8"/>
      <p:italic r:id="rId9"/>
      <p:boldItalic r:id="rId10"/>
    </p:embeddedFont>
    <p:embeddedFont>
      <p:font typeface="Montserrat Bold" pitchFamily="2" charset="0"/>
      <p:regular r:id="rId11"/>
      <p:bold r:id="rId12"/>
    </p:embeddedFont>
    <p:embeddedFont>
      <p:font typeface="Montserrat Bold Italics" panose="020B0604020202020204" charset="0"/>
      <p:regular r:id="rId13"/>
    </p:embeddedFont>
    <p:embeddedFont>
      <p:font typeface="Montserrat Classic Bold" panose="020B0604020202020204" charset="0"/>
      <p:regular r:id="rId14"/>
    </p:embeddedFont>
    <p:embeddedFont>
      <p:font typeface="Montserrat Medium" pitchFamily="2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93EA5-5FCA-49C5-A3B1-6CBA0204B542}" v="1" dt="2026-03-11T11:10:12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15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1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7988" y="-1447661"/>
            <a:ext cx="6433898" cy="6145522"/>
          </a:xfrm>
          <a:custGeom>
            <a:avLst/>
            <a:gdLst/>
            <a:ahLst/>
            <a:cxnLst/>
            <a:rect l="l" t="t" r="r" b="b"/>
            <a:pathLst>
              <a:path w="6433898" h="6145522">
                <a:moveTo>
                  <a:pt x="0" y="0"/>
                </a:moveTo>
                <a:lnTo>
                  <a:pt x="6433898" y="0"/>
                </a:lnTo>
                <a:lnTo>
                  <a:pt x="6433898" y="6145522"/>
                </a:lnTo>
                <a:lnTo>
                  <a:pt x="0" y="6145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177431" b="-3394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" name="Freeform 2"/>
          <p:cNvSpPr/>
          <p:nvPr/>
        </p:nvSpPr>
        <p:spPr>
          <a:xfrm>
            <a:off x="-60717" y="2873314"/>
            <a:ext cx="6433898" cy="6145522"/>
          </a:xfrm>
          <a:custGeom>
            <a:avLst/>
            <a:gdLst/>
            <a:ahLst/>
            <a:cxnLst/>
            <a:rect l="l" t="t" r="r" b="b"/>
            <a:pathLst>
              <a:path w="6433898" h="6145522">
                <a:moveTo>
                  <a:pt x="0" y="0"/>
                </a:moveTo>
                <a:lnTo>
                  <a:pt x="6433898" y="0"/>
                </a:lnTo>
                <a:lnTo>
                  <a:pt x="6433898" y="6145523"/>
                </a:lnTo>
                <a:lnTo>
                  <a:pt x="0" y="6145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177431" b="-33942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 rot="7006503">
            <a:off x="7202088" y="5291901"/>
            <a:ext cx="7014136" cy="2945385"/>
            <a:chOff x="0" y="0"/>
            <a:chExt cx="8255698" cy="3429941"/>
          </a:xfrm>
        </p:grpSpPr>
        <p:sp>
          <p:nvSpPr>
            <p:cNvPr id="4" name="Freeform 4"/>
            <p:cNvSpPr/>
            <p:nvPr/>
          </p:nvSpPr>
          <p:spPr>
            <a:xfrm>
              <a:off x="657860" y="0"/>
              <a:ext cx="7597838" cy="2905431"/>
            </a:xfrm>
            <a:custGeom>
              <a:avLst/>
              <a:gdLst/>
              <a:ahLst/>
              <a:cxnLst/>
              <a:rect l="l" t="t" r="r" b="b"/>
              <a:pathLst>
                <a:path w="7597838" h="2905431">
                  <a:moveTo>
                    <a:pt x="0" y="0"/>
                  </a:moveTo>
                  <a:lnTo>
                    <a:pt x="7597838" y="0"/>
                  </a:lnTo>
                  <a:lnTo>
                    <a:pt x="7597838" y="2905431"/>
                  </a:lnTo>
                  <a:lnTo>
                    <a:pt x="0" y="2905431"/>
                  </a:lnTo>
                  <a:close/>
                </a:path>
              </a:pathLst>
            </a:custGeom>
            <a:solidFill>
              <a:srgbClr val="2354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57860" cy="3429941"/>
            </a:xfrm>
            <a:custGeom>
              <a:avLst/>
              <a:gdLst/>
              <a:ahLst/>
              <a:cxnLst/>
              <a:rect l="l" t="t" r="r" b="b"/>
              <a:pathLst>
                <a:path w="657860" h="3429941">
                  <a:moveTo>
                    <a:pt x="657860" y="670560"/>
                  </a:moveTo>
                  <a:lnTo>
                    <a:pt x="657860" y="2819071"/>
                  </a:lnTo>
                  <a:lnTo>
                    <a:pt x="657860" y="2905431"/>
                  </a:lnTo>
                  <a:lnTo>
                    <a:pt x="0" y="3429941"/>
                  </a:lnTo>
                  <a:lnTo>
                    <a:pt x="0" y="524510"/>
                  </a:lnTo>
                  <a:lnTo>
                    <a:pt x="657860" y="0"/>
                  </a:lnTo>
                  <a:close/>
                </a:path>
              </a:pathLst>
            </a:custGeom>
            <a:solidFill>
              <a:srgbClr val="2354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2905431"/>
              <a:ext cx="8255698" cy="524510"/>
            </a:xfrm>
            <a:custGeom>
              <a:avLst/>
              <a:gdLst/>
              <a:ahLst/>
              <a:cxnLst/>
              <a:rect l="l" t="t" r="r" b="b"/>
              <a:pathLst>
                <a:path w="8255698" h="524510">
                  <a:moveTo>
                    <a:pt x="8255698" y="0"/>
                  </a:moveTo>
                  <a:lnTo>
                    <a:pt x="7597839" y="524510"/>
                  </a:lnTo>
                  <a:lnTo>
                    <a:pt x="0" y="524510"/>
                  </a:lnTo>
                  <a:lnTo>
                    <a:pt x="657860" y="0"/>
                  </a:lnTo>
                  <a:lnTo>
                    <a:pt x="784860" y="0"/>
                  </a:lnTo>
                  <a:lnTo>
                    <a:pt x="7507668" y="0"/>
                  </a:lnTo>
                  <a:close/>
                </a:path>
              </a:pathLst>
            </a:custGeom>
            <a:solidFill>
              <a:srgbClr val="90BEAB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 rot="-3627129">
            <a:off x="-3256418" y="-1056981"/>
            <a:ext cx="7014136" cy="2945385"/>
            <a:chOff x="0" y="0"/>
            <a:chExt cx="8255698" cy="3429941"/>
          </a:xfrm>
        </p:grpSpPr>
        <p:sp>
          <p:nvSpPr>
            <p:cNvPr id="8" name="Freeform 8"/>
            <p:cNvSpPr/>
            <p:nvPr/>
          </p:nvSpPr>
          <p:spPr>
            <a:xfrm>
              <a:off x="657860" y="0"/>
              <a:ext cx="7597838" cy="2905431"/>
            </a:xfrm>
            <a:custGeom>
              <a:avLst/>
              <a:gdLst/>
              <a:ahLst/>
              <a:cxnLst/>
              <a:rect l="l" t="t" r="r" b="b"/>
              <a:pathLst>
                <a:path w="7597838" h="2905431">
                  <a:moveTo>
                    <a:pt x="0" y="0"/>
                  </a:moveTo>
                  <a:lnTo>
                    <a:pt x="7597838" y="0"/>
                  </a:lnTo>
                  <a:lnTo>
                    <a:pt x="7597838" y="2905431"/>
                  </a:lnTo>
                  <a:lnTo>
                    <a:pt x="0" y="2905431"/>
                  </a:lnTo>
                  <a:close/>
                </a:path>
              </a:pathLst>
            </a:custGeom>
            <a:solidFill>
              <a:srgbClr val="2354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57860" cy="3429941"/>
            </a:xfrm>
            <a:custGeom>
              <a:avLst/>
              <a:gdLst/>
              <a:ahLst/>
              <a:cxnLst/>
              <a:rect l="l" t="t" r="r" b="b"/>
              <a:pathLst>
                <a:path w="657860" h="3429941">
                  <a:moveTo>
                    <a:pt x="657860" y="670560"/>
                  </a:moveTo>
                  <a:lnTo>
                    <a:pt x="657860" y="2819071"/>
                  </a:lnTo>
                  <a:lnTo>
                    <a:pt x="657860" y="2905431"/>
                  </a:lnTo>
                  <a:lnTo>
                    <a:pt x="0" y="3429941"/>
                  </a:lnTo>
                  <a:lnTo>
                    <a:pt x="0" y="524510"/>
                  </a:lnTo>
                  <a:lnTo>
                    <a:pt x="657860" y="0"/>
                  </a:lnTo>
                  <a:close/>
                </a:path>
              </a:pathLst>
            </a:custGeom>
            <a:solidFill>
              <a:srgbClr val="2354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2905431"/>
              <a:ext cx="8255698" cy="524510"/>
            </a:xfrm>
            <a:custGeom>
              <a:avLst/>
              <a:gdLst/>
              <a:ahLst/>
              <a:cxnLst/>
              <a:rect l="l" t="t" r="r" b="b"/>
              <a:pathLst>
                <a:path w="8255698" h="524510">
                  <a:moveTo>
                    <a:pt x="8255698" y="0"/>
                  </a:moveTo>
                  <a:lnTo>
                    <a:pt x="7597839" y="524510"/>
                  </a:lnTo>
                  <a:lnTo>
                    <a:pt x="0" y="524510"/>
                  </a:lnTo>
                  <a:lnTo>
                    <a:pt x="657860" y="0"/>
                  </a:lnTo>
                  <a:lnTo>
                    <a:pt x="784860" y="0"/>
                  </a:lnTo>
                  <a:lnTo>
                    <a:pt x="7507668" y="0"/>
                  </a:lnTo>
                  <a:close/>
                </a:path>
              </a:pathLst>
            </a:custGeom>
            <a:solidFill>
              <a:srgbClr val="90BEAB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2574906" y="3912447"/>
            <a:ext cx="5542187" cy="0"/>
          </a:xfrm>
          <a:prstGeom prst="line">
            <a:avLst/>
          </a:prstGeom>
          <a:ln w="19050" cap="flat">
            <a:solidFill>
              <a:srgbClr val="90B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410194" y="1974043"/>
            <a:ext cx="7871612" cy="422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spc="477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SAFE HANDS AWARD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4195" y="4504869"/>
            <a:ext cx="658360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spc="125" dirty="0">
                <a:solidFill>
                  <a:srgbClr val="363434"/>
                </a:solidFill>
                <a:latin typeface="Montserrat"/>
                <a:ea typeface="Montserrat"/>
                <a:cs typeface="Montserrat"/>
                <a:sym typeface="Montserrat"/>
              </a:rPr>
              <a:t>In pursuance of safety in a “Child Care Setting” and appertaining to the Statutory Framework for Early Years Foundation Stage (1st September 2025) and subject to the schedules and conditions set out in the </a:t>
            </a:r>
            <a:r>
              <a:rPr lang="en-US" sz="1100" spc="125" dirty="0" err="1">
                <a:solidFill>
                  <a:srgbClr val="363434"/>
                </a:solidFill>
                <a:latin typeface="Montserrat"/>
                <a:ea typeface="Montserrat"/>
                <a:cs typeface="Montserrat"/>
                <a:sym typeface="Montserrat"/>
              </a:rPr>
              <a:t>licence</a:t>
            </a:r>
            <a:r>
              <a:rPr lang="en-US" sz="1100" spc="125" dirty="0">
                <a:solidFill>
                  <a:srgbClr val="363434"/>
                </a:solidFill>
                <a:latin typeface="Montserrat"/>
                <a:ea typeface="Montserrat"/>
                <a:cs typeface="Montserrat"/>
                <a:sym typeface="Montserrat"/>
              </a:rPr>
              <a:t> terms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9284" y="2443942"/>
            <a:ext cx="61934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spc="171">
                <a:solidFill>
                  <a:srgbClr val="36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CERTIFICATE OF APPROVAL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9466" y="4026747"/>
            <a:ext cx="8933069" cy="255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GB" sz="1400" b="1" spc="182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{{</a:t>
            </a:r>
            <a:r>
              <a:rPr lang="en-GB" sz="1400" b="1" spc="182" dirty="0" err="1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company_address</a:t>
            </a:r>
            <a:r>
              <a:rPr lang="en-GB" sz="1400" b="1" spc="182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}}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363684" y="202058"/>
            <a:ext cx="1964632" cy="1735986"/>
            <a:chOff x="0" y="0"/>
            <a:chExt cx="2619509" cy="2314647"/>
          </a:xfrm>
        </p:grpSpPr>
        <p:sp>
          <p:nvSpPr>
            <p:cNvPr id="17" name="Freeform 17"/>
            <p:cNvSpPr/>
            <p:nvPr/>
          </p:nvSpPr>
          <p:spPr>
            <a:xfrm>
              <a:off x="324175" y="0"/>
              <a:ext cx="1971160" cy="1754332"/>
            </a:xfrm>
            <a:custGeom>
              <a:avLst/>
              <a:gdLst/>
              <a:ahLst/>
              <a:cxnLst/>
              <a:rect l="l" t="t" r="r" b="b"/>
              <a:pathLst>
                <a:path w="1971160" h="1754332">
                  <a:moveTo>
                    <a:pt x="0" y="0"/>
                  </a:moveTo>
                  <a:lnTo>
                    <a:pt x="1971159" y="0"/>
                  </a:lnTo>
                  <a:lnTo>
                    <a:pt x="1971159" y="1754332"/>
                  </a:lnTo>
                  <a:lnTo>
                    <a:pt x="0" y="1754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1286" y="592920"/>
              <a:ext cx="1051657" cy="788464"/>
            </a:xfrm>
            <a:custGeom>
              <a:avLst/>
              <a:gdLst/>
              <a:ahLst/>
              <a:cxnLst/>
              <a:rect l="l" t="t" r="r" b="b"/>
              <a:pathLst>
                <a:path w="1051657" h="788464">
                  <a:moveTo>
                    <a:pt x="0" y="0"/>
                  </a:moveTo>
                  <a:lnTo>
                    <a:pt x="1051656" y="0"/>
                  </a:lnTo>
                  <a:lnTo>
                    <a:pt x="1051656" y="788465"/>
                  </a:lnTo>
                  <a:lnTo>
                    <a:pt x="0" y="788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547920"/>
              <a:ext cx="2619509" cy="1766727"/>
            </a:xfrm>
            <a:custGeom>
              <a:avLst/>
              <a:gdLst/>
              <a:ahLst/>
              <a:cxnLst/>
              <a:rect l="l" t="t" r="r" b="b"/>
              <a:pathLst>
                <a:path w="2619509" h="1766727">
                  <a:moveTo>
                    <a:pt x="0" y="0"/>
                  </a:moveTo>
                  <a:lnTo>
                    <a:pt x="2619509" y="0"/>
                  </a:lnTo>
                  <a:lnTo>
                    <a:pt x="2619509" y="1766727"/>
                  </a:lnTo>
                  <a:lnTo>
                    <a:pt x="0" y="1766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b="-1696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Freeform 21"/>
          <p:cNvSpPr/>
          <p:nvPr/>
        </p:nvSpPr>
        <p:spPr>
          <a:xfrm>
            <a:off x="250650" y="7054055"/>
            <a:ext cx="1494313" cy="333991"/>
          </a:xfrm>
          <a:custGeom>
            <a:avLst/>
            <a:gdLst/>
            <a:ahLst/>
            <a:cxnLst/>
            <a:rect l="l" t="t" r="r" b="b"/>
            <a:pathLst>
              <a:path w="1494313" h="333991">
                <a:moveTo>
                  <a:pt x="0" y="0"/>
                </a:moveTo>
                <a:lnTo>
                  <a:pt x="1494314" y="0"/>
                </a:lnTo>
                <a:lnTo>
                  <a:pt x="1494314" y="333992"/>
                </a:lnTo>
                <a:lnTo>
                  <a:pt x="0" y="333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75189" r="-1938" b="-18089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>
            <a:off x="4372622" y="7122968"/>
            <a:ext cx="1946756" cy="0"/>
          </a:xfrm>
          <a:prstGeom prst="line">
            <a:avLst/>
          </a:prstGeom>
          <a:ln w="19050" cap="flat">
            <a:solidFill>
              <a:srgbClr val="90B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Box 23"/>
          <p:cNvSpPr txBox="1"/>
          <p:nvPr/>
        </p:nvSpPr>
        <p:spPr>
          <a:xfrm>
            <a:off x="4066164" y="7121347"/>
            <a:ext cx="25596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IAN KERSHAW MBE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987724" y="5760083"/>
            <a:ext cx="6716552" cy="478296"/>
            <a:chOff x="0" y="0"/>
            <a:chExt cx="2407061" cy="1714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07061" cy="171411"/>
            </a:xfrm>
            <a:custGeom>
              <a:avLst/>
              <a:gdLst/>
              <a:ahLst/>
              <a:cxnLst/>
              <a:rect l="l" t="t" r="r" b="b"/>
              <a:pathLst>
                <a:path w="2407061" h="171411">
                  <a:moveTo>
                    <a:pt x="0" y="0"/>
                  </a:moveTo>
                  <a:lnTo>
                    <a:pt x="2407061" y="0"/>
                  </a:lnTo>
                  <a:lnTo>
                    <a:pt x="2407061" y="171411"/>
                  </a:lnTo>
                  <a:lnTo>
                    <a:pt x="0" y="17141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0BEA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07061" cy="209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249284" y="5258011"/>
            <a:ext cx="619343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228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APPROVAL NO: {{</a:t>
            </a:r>
            <a:r>
              <a:rPr lang="en-US" sz="2000" b="1" spc="228" dirty="0" err="1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licence_number</a:t>
            </a:r>
            <a:r>
              <a:rPr lang="en-US" sz="2000" b="1" spc="228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49284" y="2932014"/>
            <a:ext cx="61934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spc="171" dirty="0">
                <a:solidFill>
                  <a:srgbClr val="36343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FAIB presents The In Safe Hands Award to: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0" y="3354670"/>
            <a:ext cx="1072246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3100" b="1" spc="198" dirty="0">
                <a:solidFill>
                  <a:srgbClr val="2354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{{</a:t>
            </a:r>
            <a:r>
              <a:rPr lang="en-US" sz="3100" b="1" spc="198" dirty="0" err="1">
                <a:solidFill>
                  <a:srgbClr val="2354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company_name</a:t>
            </a:r>
            <a:r>
              <a:rPr lang="en-US" sz="3100" b="1" spc="198" dirty="0">
                <a:solidFill>
                  <a:srgbClr val="2354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21284" y="5821820"/>
            <a:ext cx="6193432" cy="66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 spc="216" dirty="0">
                <a:solidFill>
                  <a:srgbClr val="36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VALID: {{</a:t>
            </a:r>
            <a:r>
              <a:rPr lang="en-US" sz="1900" b="1" spc="216" dirty="0" err="1">
                <a:solidFill>
                  <a:srgbClr val="36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membership_period</a:t>
            </a:r>
            <a:r>
              <a:rPr lang="en-US" sz="1900" b="1" spc="216" dirty="0">
                <a:solidFill>
                  <a:srgbClr val="36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}}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endParaRPr lang="en-US" sz="1900" b="1" spc="216" dirty="0">
              <a:solidFill>
                <a:srgbClr val="36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4659469" y="6704916"/>
            <a:ext cx="1373063" cy="454531"/>
          </a:xfrm>
          <a:custGeom>
            <a:avLst/>
            <a:gdLst/>
            <a:ahLst/>
            <a:cxnLst/>
            <a:rect l="l" t="t" r="r" b="b"/>
            <a:pathLst>
              <a:path w="1373063" h="454531">
                <a:moveTo>
                  <a:pt x="0" y="0"/>
                </a:moveTo>
                <a:lnTo>
                  <a:pt x="1373062" y="0"/>
                </a:lnTo>
                <a:lnTo>
                  <a:pt x="1373062" y="454531"/>
                </a:lnTo>
                <a:lnTo>
                  <a:pt x="0" y="4545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TextBox 32"/>
          <p:cNvSpPr txBox="1"/>
          <p:nvPr/>
        </p:nvSpPr>
        <p:spPr>
          <a:xfrm>
            <a:off x="4704582" y="6476504"/>
            <a:ext cx="1282836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235453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Authorised By :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12278" y="7368997"/>
            <a:ext cx="1079722" cy="148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0"/>
              </a:lnSpc>
              <a:spcBef>
                <a:spcPct val="0"/>
              </a:spcBef>
            </a:pPr>
            <a:r>
              <a:rPr lang="en-US" sz="900" i="1">
                <a:solidFill>
                  <a:srgbClr val="363434">
                    <a:alpha val="84706"/>
                  </a:srgbClr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Version 3 (July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14090-f47f-4121-974f-227c293cedfc">
      <Terms xmlns="http://schemas.microsoft.com/office/infopath/2007/PartnerControls"/>
    </lcf76f155ced4ddcb4097134ff3c332f>
    <TaxCatchAll xmlns="9687b71e-b521-48d9-b284-3585a312961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3F9EFE66E9F44E9ABB41C81EEC4E61" ma:contentTypeVersion="16" ma:contentTypeDescription="Create a new document." ma:contentTypeScope="" ma:versionID="5754755ebb7d5363d60f094fa44cf47d">
  <xsd:schema xmlns:xsd="http://www.w3.org/2001/XMLSchema" xmlns:xs="http://www.w3.org/2001/XMLSchema" xmlns:p="http://schemas.microsoft.com/office/2006/metadata/properties" xmlns:ns2="87914090-f47f-4121-974f-227c293cedfc" xmlns:ns3="9687b71e-b521-48d9-b284-3585a3129616" targetNamespace="http://schemas.microsoft.com/office/2006/metadata/properties" ma:root="true" ma:fieldsID="e4ea36b4d345c31f9e0a84699de2c542" ns2:_="" ns3:_="">
    <xsd:import namespace="87914090-f47f-4121-974f-227c293cedfc"/>
    <xsd:import namespace="9687b71e-b521-48d9-b284-3585a31296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14090-f47f-4121-974f-227c293ced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bb14de3-b209-4f13-85a0-24bbb385a1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7b71e-b521-48d9-b284-3585a312961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9a7228-f088-4319-9cd7-b3bdf3f721ff}" ma:internalName="TaxCatchAll" ma:showField="CatchAllData" ma:web="9687b71e-b521-48d9-b284-3585a31296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54AD46-443F-4A00-A43D-B237768436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5C5C5C-6066-46C0-8542-C3B368B39B8D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9687b71e-b521-48d9-b284-3585a3129616"/>
    <ds:schemaRef ds:uri="87914090-f47f-4121-974f-227c293cedf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075928E-158A-47F7-8A13-29349E53C0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14090-f47f-4121-974f-227c293cedfc"/>
    <ds:schemaRef ds:uri="9687b71e-b521-48d9-b284-3585a31296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93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Montserrat Classic Bold</vt:lpstr>
      <vt:lpstr>Calibri</vt:lpstr>
      <vt:lpstr>Arial</vt:lpstr>
      <vt:lpstr>Montserrat</vt:lpstr>
      <vt:lpstr>Montserrat Medium</vt:lpstr>
      <vt:lpstr>Glacial Indifference Italics</vt:lpstr>
      <vt:lpstr>Montserrat Bold Italics</vt:lpstr>
      <vt:lpstr>Montserrat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SAFE HANDS - CERTIFICATE OF APPROVAL</dc:title>
  <dc:creator>Mark Kershaw</dc:creator>
  <cp:lastModifiedBy>Mark Kershaw</cp:lastModifiedBy>
  <cp:revision>2</cp:revision>
  <dcterms:created xsi:type="dcterms:W3CDTF">2006-08-16T00:00:00Z</dcterms:created>
  <dcterms:modified xsi:type="dcterms:W3CDTF">2026-03-13T19:10:52Z</dcterms:modified>
  <dc:identifier>DAGMVhSsWD0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0x010100593F9EFE66E9F44E9ABB41C81EEC4E61</vt:lpwstr>
  </property>
  <property fmtid="{D5CDD505-2E9C-101B-9397-08002B2CF9AE}" pid="3" name="MediaServiceImageTags">
    <vt:lpwstr/>
  </property>
</Properties>
</file>